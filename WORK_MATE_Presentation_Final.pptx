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solidFill>
              <a:srgbClr val="FA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445752" cy="109728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554480"/>
            <a:ext cx="8531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A37A55"/>
                </a:solidFill>
                <a:latin typeface="Arial"/>
              </a:defRPr>
            </a:pPr>
            <a:r>
              <a:t>OSSUS BIO-RENEWABLES  •  OPERATOR CONSOLE v3.0</a:t>
            </a:r>
          </a:p>
          <a:p>
            <a:pPr>
              <a:spcAft>
                <a:spcPts val="600"/>
              </a:spcAft>
              <a:defRPr sz="4400" b="1">
                <a:solidFill>
                  <a:srgbClr val="2E2219"/>
                </a:solidFill>
                <a:latin typeface="Arial"/>
              </a:defRPr>
            </a:pPr>
            <a:r>
              <a:t>WORK MATE</a:t>
            </a:r>
          </a:p>
          <a:p>
            <a:pPr>
              <a:spcAft>
                <a:spcPts val="1800"/>
              </a:spcAft>
              <a:defRPr sz="2000" b="1">
                <a:solidFill>
                  <a:srgbClr val="7C5A3E"/>
                </a:solidFill>
                <a:latin typeface="Arial"/>
              </a:defRPr>
            </a:pPr>
            <a:r>
              <a:t>Automated Bioreactor Telemetry &amp; Quality Report Generator</a:t>
            </a:r>
          </a:p>
          <a:p>
            <a:pPr>
              <a:spcAft>
                <a:spcPts val="2400"/>
              </a:spcAft>
              <a:defRPr sz="1300">
                <a:solidFill>
                  <a:srgbClr val="6E5A4B"/>
                </a:solidFill>
                <a:latin typeface="Arial"/>
              </a:defRPr>
            </a:pPr>
            <a:r>
              <a:t>A modern, cloud-connected console that replaces manual spreadsheets with instant IoT telemetry extraction, lab sample logging, and automated Excel &amp; PDF generation.</a:t>
            </a:r>
          </a:p>
          <a:p>
            <a:pPr>
              <a:defRPr sz="1200" b="1">
                <a:solidFill>
                  <a:srgbClr val="7C5A3E"/>
                </a:solidFill>
                <a:latin typeface="Arial"/>
              </a:defRPr>
            </a:pPr>
            <a:r>
              <a:t>Presentation &amp;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solidFill>
              <a:srgbClr val="FA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E8D8"/>
          </a:solidFill>
          <a:ln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5A3E"/>
                </a:solidFill>
                <a:latin typeface="Arial"/>
              </a:defRPr>
            </a:pPr>
            <a:r>
              <a:t>WORK MATE OPERATOR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2219"/>
                </a:solidFill>
                <a:latin typeface="Arial"/>
              </a:defRPr>
            </a:pPr>
            <a:r>
              <a:t>The Challenge vs. The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B56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B56147"/>
                </a:solidFill>
                <a:latin typeface="Arial"/>
              </a:defRPr>
            </a:pPr>
            <a:r>
              <a:t>❌ The Old Way: Manual &amp; Slow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Operators struggled with fragmented data and tedious copy-pasting.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Time-Consuming: Took 1 to 2 hours per reactor run to build reports.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Human Errors: Manual copying of data from Grafana/Database.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Scattered Files: Photos and paper lab tests were lost on phone chats &amp; emails.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Zero Traceability: No central history, version tracking, or editing permissions.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Delayed Reporting: Team had to wait days for finalized run analyses.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73152"/>
          </a:xfrm>
          <a:prstGeom prst="roundRect">
            <a:avLst/>
          </a:prstGeom>
          <a:solidFill>
            <a:srgbClr val="5E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5E7A60"/>
                </a:solidFill>
                <a:latin typeface="Arial"/>
              </a:defRPr>
            </a:pPr>
            <a:r>
              <a:t>✅ With WORK MATE: Automated &amp; Fast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A seamless 1-click web console directly connected to Google Cloud.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Lightning Fast: Generates full production reports in under 2 minutes.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100% Precision: Directly fetches exact timestamped telemetry from BigQuery.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All-in-One: Lab samples, device camera photos, and PDF attachments in one place.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Secure &amp; Controlled: Role-based access ensures only authorized operators edit.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Ready to Export: Instant download of beautiful, calculated Excel &amp; PDF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solidFill>
              <a:srgbClr val="FA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E8D8"/>
          </a:solidFill>
          <a:ln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5A3E"/>
                </a:solidFill>
                <a:latin typeface="Arial"/>
              </a:defRPr>
            </a:pPr>
            <a:r>
              <a:t>WORK MATE OPERATOR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2219"/>
                </a:solidFill>
                <a:latin typeface="Arial"/>
              </a:defRPr>
            </a:pPr>
            <a:r>
              <a:t>How It Works: Guided 7-Step Operator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Step 1: Run Details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Site selection (UCS/SDR), time window, &amp; break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Step 2: Reactor Specs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Hardware details (Anode/Cathode area, spacing, &amp; membrane).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Step 3: Datastream Selection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Choose PT (Pressure), EPU (Power), &amp; Production datastreams.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291840" cy="201168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Step 4: Lab Samples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Record Gas Chromatography (H2/CO2) and Water Quality (pH/TDS).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291840" cy="201168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3931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0690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Step 5: Photos &amp; Docs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Attach documents and take live device photos directly in browser.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931920"/>
            <a:ext cx="3291840" cy="201168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3931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0690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Step 6: Fetch Telemetry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Select sampling rate (e.g. 5 mins) &amp; query BigQuery automatically.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6035040"/>
            <a:ext cx="10698480" cy="594360"/>
          </a:xfrm>
          <a:prstGeom prst="roundRect">
            <a:avLst/>
          </a:prstGeom>
          <a:solidFill>
            <a:srgbClr val="EFE8D8"/>
          </a:solidFill>
          <a:ln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7C5A3E"/>
                </a:solidFill>
                <a:latin typeface="Arial"/>
              </a:defRPr>
            </a:pPr>
            <a:r>
              <a:t>🎯 Step 7: Final Report Generation — 1-Click download of publication-ready Excel (.xlsx) &amp; PDF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solidFill>
              <a:srgbClr val="FA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E8D8"/>
          </a:solidFill>
          <a:ln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5A3E"/>
                </a:solidFill>
                <a:latin typeface="Arial"/>
              </a:defRPr>
            </a:pPr>
            <a:r>
              <a:t>WORK MATE OPERATOR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2219"/>
                </a:solidFill>
                <a:latin typeface="Arial"/>
              </a:defRPr>
            </a:pPr>
            <a:r>
              <a:t>Cloud Tech Stack: Simple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0312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React 19 + Vite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Frontend UI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Provides an ultra-smooth, responsive web interface that works on both desktop laptops and mobile tablets with zero lag.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10312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Google Cloud Run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API Server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Serverless backend that automatically scales up when fetching large datasets and scales down to zero to save cloud costs.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210312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Google BigQuery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Telemetry Engine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Processes millions of high-frequency sensor readings per second and calculates custom time averages in under 2 seconds.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3291840" cy="210312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Google Cloud Storage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File Storage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Securely organizes reactor photos, calibration documents, and raw data dumps into run-scoped folders forever.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114800"/>
            <a:ext cx="3291840" cy="210312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411480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2519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Google Firestore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NoSQL Database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Stores operator report drafts, history logs, versioning audits, and developer permissions instantly.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114800"/>
            <a:ext cx="3291840" cy="210312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411480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2519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Firebase Auth (OAuth)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Access Security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Enforces strict corporate login restricted only to authorized @ossusbio.com Google accounts.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solidFill>
              <a:srgbClr val="FA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E8D8"/>
          </a:solidFill>
          <a:ln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5A3E"/>
                </a:solidFill>
                <a:latin typeface="Arial"/>
              </a:defRPr>
            </a:pPr>
            <a:r>
              <a:t>WORK MATE OPERATOR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2219"/>
                </a:solidFill>
                <a:latin typeface="Arial"/>
              </a:defRPr>
            </a:pPr>
            <a:r>
              <a:t>Business Impact &amp; Key Measurable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7C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5A3E"/>
                </a:solidFill>
                <a:latin typeface="Arial"/>
              </a:defRPr>
            </a:pPr>
            <a:r>
              <a:t>⚡ 95% Time Saved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From 2 hours to 2 minutes.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Eliminates hours of manual data collation per batch.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Operators can spend more time on reactor maintenance and scientific quality analysis.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Reports are published and shareable immediately upon run completion.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73152"/>
          </a:xfrm>
          <a:prstGeom prst="roundRect">
            <a:avLst/>
          </a:prstGeom>
          <a:solidFill>
            <a:srgbClr val="5E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5E7A60"/>
                </a:solidFill>
                <a:latin typeface="Arial"/>
              </a:defRPr>
            </a:pPr>
            <a:r>
              <a:t>🎯 100% Data Accuracy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Zero copy-paste errors.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Direct SQL querying guarantees mathematical precision.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Eliminates misaligned timestamps, truncated rows, or wrong column mapping.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Audit trail logs every edit with operator email &amp; timestamp.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291840" cy="73152"/>
          </a:xfrm>
          <a:prstGeom prst="roundRect">
            <a:avLst/>
          </a:prstGeom>
          <a:solidFill>
            <a:srgbClr val="A3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A37A55"/>
                </a:solidFill>
                <a:latin typeface="Arial"/>
              </a:defRPr>
            </a:pPr>
            <a:r>
              <a:t>📈 Centralized Asset</a:t>
            </a:r>
          </a:p>
          <a:p>
            <a:pPr>
              <a:spcAft>
                <a:spcPts val="800"/>
              </a:spcAft>
              <a:defRPr sz="1100">
                <a:solidFill>
                  <a:srgbClr val="6E5A4B"/>
                </a:solidFill>
                <a:latin typeface="Arial"/>
              </a:defRPr>
            </a:pPr>
            <a:r>
              <a:t>Single source of truth.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All historical run data is searchable across all Ossus sites.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Instant filtering by site, date, or operator.</a:t>
            </a:r>
          </a:p>
          <a:p>
            <a:pPr>
              <a:spcAft>
                <a:spcPts val="400"/>
              </a:spcAft>
              <a:defRPr sz="1050">
                <a:solidFill>
                  <a:srgbClr val="2E2219"/>
                </a:solidFill>
                <a:latin typeface="Arial"/>
              </a:defRPr>
            </a:pPr>
            <a:r>
              <a:t>• Provides foundational data for future ML and predictive reactor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solidFill>
              <a:srgbClr val="FA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D7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445752" cy="109728"/>
          </a:xfrm>
          <a:prstGeom prst="roundRect">
            <a:avLst/>
          </a:prstGeom>
          <a:solidFill>
            <a:srgbClr val="5E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5313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2E2219"/>
                </a:solidFill>
                <a:latin typeface="Arial"/>
              </a:defRPr>
            </a:pPr>
            <a:r>
              <a:t>Thank You!</a:t>
            </a:r>
          </a:p>
          <a:p>
            <a:pPr>
              <a:spcAft>
                <a:spcPts val="2000"/>
              </a:spcAft>
              <a:defRPr sz="1800" b="1">
                <a:solidFill>
                  <a:srgbClr val="7C5A3E"/>
                </a:solidFill>
                <a:latin typeface="Arial"/>
              </a:defRPr>
            </a:pPr>
            <a:r>
              <a:t>WORK MATE: Smarter, Faster, and Automated Bioreactor Reporting.</a:t>
            </a:r>
          </a:p>
          <a:p>
            <a:pPr>
              <a:spcAft>
                <a:spcPts val="2400"/>
              </a:spcAft>
              <a:defRPr sz="1400">
                <a:solidFill>
                  <a:srgbClr val="6E5A4B"/>
                </a:solidFill>
                <a:latin typeface="Arial"/>
              </a:defRPr>
            </a:pPr>
            <a:r>
              <a:t>🚀 Live Web App: https://grafana-494005.web.app</a:t>
            </a:r>
            <a:br/>
            <a:r>
              <a:t>💻 Local Preview: http://localhost:3000</a:t>
            </a:r>
          </a:p>
          <a:p>
            <a:pPr>
              <a:defRPr sz="1400" b="1">
                <a:solidFill>
                  <a:srgbClr val="5E7A60"/>
                </a:solidFill>
                <a:latin typeface="Arial"/>
              </a:defRPr>
            </a:pPr>
            <a:r>
              <a:t>Questions &amp; Feedback Welcome! Let's take a quick live walkthrough.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